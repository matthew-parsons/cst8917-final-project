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"/>
      <p:regular r:id="rId12"/>
      <p:bold r:id="rId13"/>
      <p:italic r:id="rId14"/>
      <p:boldItalic r:id="rId15"/>
    </p:embeddedFont>
    <p:embeddedFont>
      <p:font typeface="La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bold.fntdata"/><Relationship Id="rId12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Italic.fntdata"/><Relationship Id="rId14" Type="http://schemas.openxmlformats.org/officeDocument/2006/relationships/font" Target="fonts/Montserrat-italic.fntdata"/><Relationship Id="rId17" Type="http://schemas.openxmlformats.org/officeDocument/2006/relationships/font" Target="fonts/Lato-bold.fntdata"/><Relationship Id="rId16" Type="http://schemas.openxmlformats.org/officeDocument/2006/relationships/font" Target="fonts/La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Italic.fntdata"/><Relationship Id="rId6" Type="http://schemas.openxmlformats.org/officeDocument/2006/relationships/slide" Target="slides/slide1.xml"/><Relationship Id="rId18" Type="http://schemas.openxmlformats.org/officeDocument/2006/relationships/font" Target="fonts/La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6b2a14e34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6b2a14e34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6b2a14e34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6b2a14e34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6b2a14e3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6b2a14e3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6b2a14e34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6b2a14e34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6b2a14e34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6b2a14e34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300">
                <a:latin typeface="Lato"/>
                <a:ea typeface="Lato"/>
                <a:cs typeface="Lato"/>
                <a:sym typeface="Lato"/>
              </a:rPr>
              <a:t>Compare &amp; Contrast — Dual Implementation of an Expense Approval Workflow</a:t>
            </a:r>
            <a:endParaRPr b="1" sz="23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Matthew Parsons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345650" y="1371975"/>
            <a:ext cx="8140800" cy="34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Workflow</a:t>
            </a:r>
            <a:endParaRPr b="1" sz="1800"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Input: </a:t>
            </a:r>
            <a:r>
              <a:rPr lang="en"/>
              <a:t>An expense request with: employee name, employee email, amount, category, description, and manager email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Validation: </a:t>
            </a:r>
            <a:r>
              <a:rPr lang="en"/>
              <a:t>Reject requests missing any required field or using an invalid category. Valid categories: travel, meals, supplies, equipment, software, other.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Auto-Approve: </a:t>
            </a:r>
            <a:r>
              <a:rPr lang="en"/>
              <a:t>Expenses under $100 are automatically approved — no manager needed.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Manager Approval: </a:t>
            </a:r>
            <a:r>
              <a:rPr lang="en"/>
              <a:t>Expenses of $100 or more require manager approval. The system waits for a manager decision.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Timeout: </a:t>
            </a:r>
            <a:r>
              <a:rPr lang="en"/>
              <a:t>If no manager decision arrives within the timeout period, the expense is auto-approved and flagged as "escalated".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b="1" lang="en"/>
              <a:t>Notification: </a:t>
            </a:r>
            <a:r>
              <a:rPr lang="en"/>
              <a:t>The employee receives an email with the final outcome (approved, rejected, or escalated).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A - durable functions</a:t>
            </a:r>
            <a:endParaRPr/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Approach: Code-First Orchestration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Azure Durable Functions (Python)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Components:</a:t>
            </a:r>
            <a:endParaRPr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○"/>
            </a:pPr>
            <a:r>
              <a:rPr lang="en" sz="1300"/>
              <a:t>Orchestrator function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○"/>
            </a:pPr>
            <a:r>
              <a:rPr lang="en" sz="1300"/>
              <a:t>Activity functions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○"/>
            </a:pPr>
            <a:r>
              <a:rPr lang="en" sz="1300"/>
              <a:t>HTTP trigger (manager response)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Implements Human Interaction pattern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 B - logic app + service bus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Approach: Visual / Declarative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Service Bus queue → receives requests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Logic App → orchestrates workflow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Azure Function → validation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Service Bus topic → outcomes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methods A &amp; B</a:t>
            </a:r>
            <a:endParaRPr/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525000" y="1518650"/>
            <a:ext cx="80037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Feature					      Durable Functions				          Logic Apps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Style							Code-first						Visual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Flexibility						High							Medium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Setup							Complex						Faster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Debugging						Code-based						UI-based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</a:t>
            </a:r>
            <a:endParaRPr/>
          </a:p>
        </p:txBody>
      </p:sp>
      <p:sp>
        <p:nvSpPr>
          <p:cNvPr id="165" name="Google Shape;165;p18"/>
          <p:cNvSpPr txBox="1"/>
          <p:nvPr>
            <p:ph idx="1" type="body"/>
          </p:nvPr>
        </p:nvSpPr>
        <p:spPr>
          <a:xfrm>
            <a:off x="1052550" y="1469775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Choose Durable Functions when: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Complex workflows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Need full control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Strong testing required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Choose Logic Apps when: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Simple workflows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Fast development needed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lang="en"/>
              <a:t>Less coding preferred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